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Poppins Medium"/>
      <p:regular r:id="rId35"/>
      <p:bold r:id="rId36"/>
      <p:italic r:id="rId37"/>
      <p:boldItalic r:id="rId38"/>
    </p:embeddedFont>
    <p:embeddedFont>
      <p:font typeface="Inter ExtraBold"/>
      <p:bold r:id="rId39"/>
      <p:boldItalic r:id="rId40"/>
    </p:embeddedFont>
    <p:embeddedFont>
      <p:font typeface="Inter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D14CB9-F928-40B2-8A51-4369BFD28909}">
  <a:tblStyle styleId="{46D14CB9-F928-40B2-8A51-4369BFD289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22" Type="http://schemas.openxmlformats.org/officeDocument/2006/relationships/slide" Target="slides/slide16.xml"/><Relationship Id="rId44" Type="http://schemas.openxmlformats.org/officeDocument/2006/relationships/font" Target="fonts/InterMedium-boldItalic.fntdata"/><Relationship Id="rId21" Type="http://schemas.openxmlformats.org/officeDocument/2006/relationships/slide" Target="slides/slide15.xml"/><Relationship Id="rId43" Type="http://schemas.openxmlformats.org/officeDocument/2006/relationships/font" Target="fonts/InterMedium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Poppins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italic.fntdata"/><Relationship Id="rId14" Type="http://schemas.openxmlformats.org/officeDocument/2006/relationships/slide" Target="slides/slide8.xml"/><Relationship Id="rId36" Type="http://schemas.openxmlformats.org/officeDocument/2006/relationships/font" Target="fonts/PoppinsMedium-bold.fntdata"/><Relationship Id="rId17" Type="http://schemas.openxmlformats.org/officeDocument/2006/relationships/slide" Target="slides/slide11.xml"/><Relationship Id="rId39" Type="http://schemas.openxmlformats.org/officeDocument/2006/relationships/font" Target="fonts/InterExtraBold-bold.fntdata"/><Relationship Id="rId16" Type="http://schemas.openxmlformats.org/officeDocument/2006/relationships/slide" Target="slides/slide10.xml"/><Relationship Id="rId38" Type="http://schemas.openxmlformats.org/officeDocument/2006/relationships/font" Target="fonts/Poppins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5.png"/><Relationship Id="rId13" Type="http://schemas.openxmlformats.org/officeDocument/2006/relationships/image" Target="../media/image10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15" Type="http://schemas.openxmlformats.org/officeDocument/2006/relationships/image" Target="../media/image7.png"/><Relationship Id="rId1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image" Target="../media/image34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13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8.png"/><Relationship Id="rId13" Type="http://schemas.openxmlformats.org/officeDocument/2006/relationships/image" Target="../media/image43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5" Type="http://schemas.openxmlformats.org/officeDocument/2006/relationships/image" Target="../media/image64.png"/><Relationship Id="rId14" Type="http://schemas.openxmlformats.org/officeDocument/2006/relationships/image" Target="../media/image45.png"/><Relationship Id="rId17" Type="http://schemas.openxmlformats.org/officeDocument/2006/relationships/image" Target="../media/image47.png"/><Relationship Id="rId16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1.png"/><Relationship Id="rId9" Type="http://schemas.openxmlformats.org/officeDocument/2006/relationships/image" Target="../media/image48.png"/><Relationship Id="rId5" Type="http://schemas.openxmlformats.org/officeDocument/2006/relationships/image" Target="../media/image57.png"/><Relationship Id="rId6" Type="http://schemas.openxmlformats.org/officeDocument/2006/relationships/image" Target="../media/image13.png"/><Relationship Id="rId7" Type="http://schemas.openxmlformats.org/officeDocument/2006/relationships/image" Target="../media/image54.png"/><Relationship Id="rId8" Type="http://schemas.openxmlformats.org/officeDocument/2006/relationships/image" Target="../media/image7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9" Type="http://schemas.openxmlformats.org/officeDocument/2006/relationships/image" Target="../media/image52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73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5.png"/><Relationship Id="rId9" Type="http://schemas.openxmlformats.org/officeDocument/2006/relationships/image" Target="../media/image82.png"/><Relationship Id="rId5" Type="http://schemas.openxmlformats.org/officeDocument/2006/relationships/image" Target="../media/image49.png"/><Relationship Id="rId6" Type="http://schemas.openxmlformats.org/officeDocument/2006/relationships/image" Target="../media/image13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7.png"/><Relationship Id="rId9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76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9" Type="http://schemas.openxmlformats.org/officeDocument/2006/relationships/image" Target="../media/image79.png"/><Relationship Id="rId5" Type="http://schemas.openxmlformats.org/officeDocument/2006/relationships/image" Target="../media/image66.png"/><Relationship Id="rId6" Type="http://schemas.openxmlformats.org/officeDocument/2006/relationships/image" Target="../media/image13.png"/><Relationship Id="rId7" Type="http://schemas.openxmlformats.org/officeDocument/2006/relationships/image" Target="../media/image72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8.png"/><Relationship Id="rId5" Type="http://schemas.openxmlformats.org/officeDocument/2006/relationships/image" Target="../media/image13.png"/><Relationship Id="rId6" Type="http://schemas.openxmlformats.org/officeDocument/2006/relationships/image" Target="../media/image61.png"/><Relationship Id="rId7" Type="http://schemas.openxmlformats.org/officeDocument/2006/relationships/image" Target="../media/image78.png"/><Relationship Id="rId8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13.png"/><Relationship Id="rId6" Type="http://schemas.openxmlformats.org/officeDocument/2006/relationships/image" Target="../media/image80.png"/><Relationship Id="rId7" Type="http://schemas.openxmlformats.org/officeDocument/2006/relationships/image" Target="../media/image74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572321"/>
            <a:ext cx="1143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91421"/>
            <a:ext cx="8572500" cy="7286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835592" y="2233166"/>
            <a:ext cx="652081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Professionalism of IT Teams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65646" y="2876996"/>
            <a:ext cx="566070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Conflict, Performance &amp; Stakeholder Management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744663" y="4286696"/>
            <a:ext cx="273362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COURSE TITLE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4505771"/>
            <a:ext cx="260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TECH1100 – Professional Practice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29114" y="4286696"/>
            <a:ext cx="273362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PREPARED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794200" y="4505771"/>
            <a:ext cx="260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Your Name (Student ID)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13560" y="4286696"/>
            <a:ext cx="27337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DATE &amp; PERIOD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78650" y="4505771"/>
            <a:ext cx="260359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Trimester 1,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557462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2557462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405187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3405187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252912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7437" y="4252912"/>
            <a:ext cx="5348287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5562" y="27384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3586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5562" y="3586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4400" y="4433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05562" y="4433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76275" y="629602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Professional Practice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148387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858500" y="6296025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 of 16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428750" y="2790825"/>
            <a:ext cx="24603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Case Context &amp; Introduction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919912" y="2790825"/>
            <a:ext cx="29103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Causes of Underperformance (Q1)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428750" y="3638550"/>
            <a:ext cx="29303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Escalating Risks &amp; Mitigation (Q2)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919912" y="3638550"/>
            <a:ext cx="30403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Structured Conflict Resolution (Q3)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428750" y="4486275"/>
            <a:ext cx="3000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Stakeholder Salience &amp; Repair (Q4)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919912" y="4486275"/>
            <a:ext cx="2770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Prevention &amp; Agile Learning (Q5)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95537"/>
            <a:ext cx="5229225" cy="1452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76275" y="629602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Professional Practice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14362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848975" y="62960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 of 16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76275" y="2395537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Context Analysis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42975" y="2814637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Environment: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Rapidly growing e-commerce organization with dynamic scale demands.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42975" y="3390900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Symptoms: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Declining team engagement, critical campaign delays, and a direct slide in sales.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42975" y="3967162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Obstacle: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Unmanaged confrontational behavior by Samuel (Social Media Specialist).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42975" y="4543425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Stakeholder Friction: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major brand partner expresses extreme dissatisfaction.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62725" y="2624137"/>
            <a:ext cx="49606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Core Issue Statement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562725" y="2976562"/>
            <a:ext cx="4724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"Unmanaged interpersonal friction has ruptured team alignment, reduced psychological safety, and compromised external customer relationships, putting contract renewals at risk."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53200" y="4038600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Immediate leadership intervention is required by Isabella to stabilize the unit.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 &amp; Case Overview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2833687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3409950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3986212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56247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4057650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21743"/>
            <a:ext cx="52292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3817143"/>
            <a:ext cx="96574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334" y="3864768"/>
            <a:ext cx="96574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2144" y="3436143"/>
            <a:ext cx="96574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9954" y="2864643"/>
            <a:ext cx="96574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676275" y="6296025"/>
            <a:ext cx="1800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(Q1.1)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12457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848975" y="62960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 of 16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42975" y="2521743"/>
            <a:ext cx="496252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Interpersonal Conflict: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 assertive/low cooperative "Competing" behaviors stall cross-functional work.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Thomas &amp; Kilmann, 1974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42975" y="3345656"/>
            <a:ext cx="496252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Psychological Safety Drop: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Team members withdraw from creative sharing to avoid open hostility.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Edmondson, 1999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42975" y="4169568"/>
            <a:ext cx="496252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Tuckman Regression: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Unresolved disputes regress the team into a hostile "Storming" cycle.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Tuckman, 1965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486525" y="2721768"/>
            <a:ext cx="19050" cy="18859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Causes of Underperformance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254079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3364706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4188618"/>
            <a:ext cx="152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6740723" y="4464843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Forming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774334" y="4321968"/>
            <a:ext cx="9657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Storming (Current)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9306817" y="4464843"/>
            <a:ext cx="476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Norming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0518427" y="4464843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Performing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96728"/>
            <a:ext cx="522922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676275" y="629602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(Q1.2)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14362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0858500" y="6296025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 of 16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76275" y="2396728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Samuel's Destructive Impact</a:t>
            </a:r>
            <a:endParaRPr/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2444353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942975" y="2787253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Morale Deterioration: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Destructive feedback creates an unsafe professional forum.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942975" y="3363515"/>
            <a:ext cx="496252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Vulnerability Banished: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Team hides errors to escape public humiliation.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Edmondson, 1999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42975" y="3965971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Campaign Stagnation: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Social media output loses innovation as collaboration stalls.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942975" y="4542234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Severe drops in marketing campaign efficiency and final sales conversions.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Impact of Reduced Safety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280630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38256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98502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4561284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721768"/>
            <a:ext cx="10839450" cy="2071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676275" y="6296025"/>
            <a:ext cx="1819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(Q2.1)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134100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0848975" y="62960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 of 16</a:t>
            </a:r>
            <a:endParaRPr/>
          </a:p>
        </p:txBody>
      </p:sp>
      <p:graphicFrame>
        <p:nvGraphicFramePr>
          <p:cNvPr id="213" name="Google Shape;213;p18"/>
          <p:cNvGraphicFramePr/>
          <p:nvPr/>
        </p:nvGraphicFramePr>
        <p:xfrm>
          <a:off x="685800" y="27312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{46D14CB9-F928-40B2-8A51-4369BFD28909}</a:tableStyleId>
              </a:tblPr>
              <a:tblGrid>
                <a:gridCol w="1483525"/>
                <a:gridCol w="6302575"/>
                <a:gridCol w="1182300"/>
                <a:gridCol w="1852025"/>
              </a:tblGrid>
              <a:tr h="51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Risk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Critical Consequences &amp; Impacts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Risk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Strategic Citations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1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Extended revenue decay, missing strategic deadlines, uncoordinated campaigns.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31000 (2018)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Stakeholder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Definitive brand partner exit, severe B2B reputation erosion.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Freeman (1984)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Human Capital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Talent departures, expensive HR investigations, workspace grievances.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Tuckman (1965)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8"/>
          <p:cNvSpPr/>
          <p:nvPr/>
        </p:nvSpPr>
        <p:spPr>
          <a:xfrm>
            <a:off x="685800" y="3750468"/>
            <a:ext cx="14835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2169318" y="3750468"/>
            <a:ext cx="6302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471892" y="3750468"/>
            <a:ext cx="1182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9654182" y="3750468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85800" y="4264818"/>
            <a:ext cx="14835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2169318" y="4264818"/>
            <a:ext cx="6302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471892" y="4264818"/>
            <a:ext cx="11822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9654182" y="4264818"/>
            <a:ext cx="1852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24292" y="3412331"/>
            <a:ext cx="4095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4292" y="3926681"/>
            <a:ext cx="628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24292" y="4441031"/>
            <a:ext cx="590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Escalating Risks if Unresolved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2718"/>
            <a:ext cx="522922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676275" y="6296025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(Q2.2)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153150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0858500" y="6296025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7 of 16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942975" y="2702718"/>
            <a:ext cx="496252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31000 Alignment: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Direct risk identification, mitigation treatment, and governance controls.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 31000, 2018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942975" y="3526631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Urgent Conflict Resolution: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Initiate formal individual behavioral check-ins.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42975" y="4102893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Execution Dashboards: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 public KPIs to track individual delivery.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942975" y="4457700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Stakeholder Communications: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 transparent engagement channels.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8882062" y="2712243"/>
            <a:ext cx="38100" cy="18097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6858000" y="2940843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ISO 31000 Loop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524625" y="3340893"/>
            <a:ext cx="475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Continuous Oversight: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Risk controls must translate directly to active project boards.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524625" y="3893343"/>
            <a:ext cx="4752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"Isabella must transition from reactive damage control to active strategic risk mitigation."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Risk Mitigation Framework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2721768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354568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12194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476750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88468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8675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075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476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65876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88276" y="3019871"/>
            <a:ext cx="1727150" cy="1256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25475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47876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70276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92676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15077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37477" y="317227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676275" y="4466629"/>
            <a:ext cx="10839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REFERENCE MODEL: THOMAS &amp; KILMANN (1974) &amp; GOLEMAN (1995)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6275" y="629602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(Q3.1)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138862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10848975" y="62960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8 of 16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743109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Gather Evidence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81050" y="3715196"/>
            <a:ext cx="1517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Collect specific instances of Samuel's outbursts.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2565510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1-on-1 Meet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2603450" y="3715196"/>
            <a:ext cx="1517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Initiate direct private dialogue to bypass defensiveness.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387910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Active Listen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425850" y="3715196"/>
            <a:ext cx="1517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Uncover root issues behind his confrontational behavior.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6210311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Set Bounds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6248251" y="3715196"/>
            <a:ext cx="1517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Outline strict code of team communication norms.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8032711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Commit to PIP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8070651" y="3715196"/>
            <a:ext cx="1517600" cy="40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Establish a Performance Improvement Plan with timelines.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855111" y="3477071"/>
            <a:ext cx="1593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Review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9893051" y="3715196"/>
            <a:ext cx="151760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 behavioral trends weekly.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Conflict Resolution Plan</a:t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1482700" y="3590850"/>
            <a:ext cx="114300" cy="11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3305100" y="3590850"/>
            <a:ext cx="114300" cy="11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127500" y="3590850"/>
            <a:ext cx="114300" cy="11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949901" y="3590850"/>
            <a:ext cx="114300" cy="11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772301" y="3590850"/>
            <a:ext cx="114300" cy="11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638425"/>
            <a:ext cx="53244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638425"/>
            <a:ext cx="53244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 txBox="1"/>
          <p:nvPr/>
        </p:nvSpPr>
        <p:spPr>
          <a:xfrm>
            <a:off x="676275" y="6296025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(Q3.2)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6153150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10848975" y="62960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 of 16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3319462" y="2647950"/>
            <a:ext cx="38100" cy="22193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200150" y="2876550"/>
            <a:ext cx="479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SBI Feedback Model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914400" y="3276600"/>
            <a:ext cx="4848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 feedback cleanly to de-escalate tension: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8834437" y="2647950"/>
            <a:ext cx="38100" cy="22193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6762750" y="2876550"/>
            <a:ext cx="47405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Psychological Safety Norms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429375" y="3276600"/>
            <a:ext cx="4848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 a reliable team dynamic through rules: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6429375" y="4467225"/>
            <a:ext cx="4848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EDMONDSON, 1999</a:t>
            </a:r>
            <a:endParaRPr/>
          </a:p>
        </p:txBody>
      </p:sp>
      <p:pic>
        <p:nvPicPr>
          <p:cNvPr descr="image.png" id="314" name="Google Shape;3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9241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1009650" y="357187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Situation: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Target a specific timeframe/incident.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1009650" y="385762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Behaviour: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Describe observed actions objectively.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1009650" y="414337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Impact: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Detail consequence on team outcomes.</a:t>
            </a:r>
            <a:endParaRPr/>
          </a:p>
        </p:txBody>
      </p:sp>
      <p:pic>
        <p:nvPicPr>
          <p:cNvPr descr="image.png" id="318" name="Google Shape;31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92417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6524625" y="357187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Charter: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Co-create core collaboration values.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6524625" y="385762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Respect Frame: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Zero tolerance for personal attacks.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6524625" y="4143375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Feedback Protocols: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Shift focus to task, not character.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1119187" y="485775"/>
            <a:ext cx="10916364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Critical Intervention Steps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28862"/>
            <a:ext cx="52292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2862" y="2709862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5362" y="2709862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39112" y="3471862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9137" y="3633787"/>
            <a:ext cx="11239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2"/>
          <p:cNvSpPr txBox="1"/>
          <p:nvPr/>
        </p:nvSpPr>
        <p:spPr>
          <a:xfrm>
            <a:off x="676275" y="629602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(Q4.1)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6115050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0801350" y="6296025"/>
            <a:ext cx="71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 of 16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676275" y="2328862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Stakeholder Salience Model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942975" y="2747962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Partner possesses immense financial clout over e-commerce revenue streams.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942975" y="3324225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Legitimacy: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contractual ties establish formal priority status.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942975" y="3679031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Urgency: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Impending contract renewal cycle demands instant executive repair work.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942975" y="4255293"/>
            <a:ext cx="496252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Category: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Classified as a "Definitive" high-priority stakeholder.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Mitchell et al., 1997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1119187" y="485775"/>
            <a:ext cx="10916364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Stakeholder Prioritisation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6" name="Google Shape;346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2767012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334327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369808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4274343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663428"/>
            <a:ext cx="5324475" cy="218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663428"/>
            <a:ext cx="5324475" cy="218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595312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3"/>
          <p:cNvSpPr txBox="1"/>
          <p:nvPr/>
        </p:nvSpPr>
        <p:spPr>
          <a:xfrm>
            <a:off x="676275" y="6296025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(Q4.2)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614362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10829925" y="6296025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11 of 16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3319462" y="2672953"/>
            <a:ext cx="38100" cy="216931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228725" y="2901553"/>
            <a:ext cx="47605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1: Transparency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8834437" y="2672953"/>
            <a:ext cx="38100" cy="216931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715125" y="2901553"/>
            <a:ext cx="479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Phase 2: Collaboration</a:t>
            </a:r>
            <a:endParaRPr/>
          </a:p>
        </p:txBody>
      </p:sp>
      <p:pic>
        <p:nvPicPr>
          <p:cNvPr descr="image.png" id="366" name="Google Shape;36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949178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3"/>
          <p:cNvSpPr txBox="1"/>
          <p:nvPr/>
        </p:nvSpPr>
        <p:spPr>
          <a:xfrm>
            <a:off x="1181100" y="3301603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Schedule immediate alignment meetings with partner executives.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1181100" y="3656409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Acknowledge execution drops without laying blame.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1181100" y="4011215"/>
            <a:ext cx="458152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Present concrete evidence of newly active internal controls.</a:t>
            </a:r>
            <a:r>
              <a:rPr b="0" i="0" lang="en-US" sz="1162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Dirks et al., 2009</a:t>
            </a:r>
            <a:endParaRPr/>
          </a:p>
        </p:txBody>
      </p:sp>
      <p:pic>
        <p:nvPicPr>
          <p:cNvPr descr="image.png" id="370" name="Google Shape;37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94917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/>
        </p:nvSpPr>
        <p:spPr>
          <a:xfrm>
            <a:off x="6696075" y="3301603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Co-design performance goals to secure strategic buy-in.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6696075" y="3656409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 access to regular campaign performance metrics.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6696075" y="4011215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Adopt modern client relations communication loops.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1090612" y="485775"/>
            <a:ext cx="10946368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Relationship Repair Strategy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332065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3675459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03026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332065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3675459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4030265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5612" y="2455068"/>
            <a:ext cx="2024062" cy="1231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2550" y="2455068"/>
            <a:ext cx="2024062" cy="1231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5612" y="3829050"/>
            <a:ext cx="2024062" cy="1231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2550" y="3829050"/>
            <a:ext cx="2024062" cy="1231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595312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4"/>
          <p:cNvSpPr txBox="1"/>
          <p:nvPr/>
        </p:nvSpPr>
        <p:spPr>
          <a:xfrm>
            <a:off x="676275" y="6296025"/>
            <a:ext cx="1819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(Q5.1)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6115050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10810875" y="6296025"/>
            <a:ext cx="704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12 of 16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676275" y="4105275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DEMING, 1986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942975" y="2455068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Professional Code: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Introduce clean, modern behavioral standards.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942975" y="2809875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Agile Retrospectives: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Evaluate delivery pipelines and internal team trust weekly.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942975" y="3386137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Defined Roles: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Clarify boundaries to prevent task overlap friction.</a:t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942975" y="3740943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Feedback Loops: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Detect early warning signals of team distress.</a:t>
            </a:r>
            <a:endParaRPr/>
          </a:p>
        </p:txBody>
      </p:sp>
      <p:sp>
        <p:nvSpPr>
          <p:cNvPr id="401" name="Google Shape;401;p24"/>
          <p:cNvSpPr txBox="1"/>
          <p:nvPr/>
        </p:nvSpPr>
        <p:spPr>
          <a:xfrm>
            <a:off x="9131974" y="3045618"/>
            <a:ext cx="1705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6965037" y="4419600"/>
            <a:ext cx="1705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Check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9131974" y="4419600"/>
            <a:ext cx="1705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1023937" y="485775"/>
            <a:ext cx="11016376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Preventing Recurrence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6" name="Google Shape;40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2474118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282892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3405187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" y="3759993"/>
            <a:ext cx="152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4"/>
          <p:cNvSpPr txBox="1"/>
          <p:nvPr/>
        </p:nvSpPr>
        <p:spPr>
          <a:xfrm>
            <a:off x="7005637" y="2683668"/>
            <a:ext cx="162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6965037" y="3045618"/>
            <a:ext cx="1705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7005637" y="3321843"/>
            <a:ext cx="162401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Code &amp; Team Charter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9172575" y="2683668"/>
            <a:ext cx="162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9172575" y="3321843"/>
            <a:ext cx="162401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Daily Sync &amp; Feedback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7005637" y="4057650"/>
            <a:ext cx="162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7005637" y="4695825"/>
            <a:ext cx="162401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Sprint Retrospectives</a:t>
            </a:r>
            <a:endParaRPr/>
          </a:p>
        </p:txBody>
      </p:sp>
      <p:sp>
        <p:nvSpPr>
          <p:cNvPr id="417" name="Google Shape;417;p24"/>
          <p:cNvSpPr txBox="1"/>
          <p:nvPr/>
        </p:nvSpPr>
        <p:spPr>
          <a:xfrm>
            <a:off x="9172575" y="4057650"/>
            <a:ext cx="162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9172575" y="4695825"/>
            <a:ext cx="162401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System Correctives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544365"/>
            <a:ext cx="5324475" cy="2426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44365"/>
            <a:ext cx="5324475" cy="2426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595312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5"/>
          <p:cNvSpPr txBox="1"/>
          <p:nvPr/>
        </p:nvSpPr>
        <p:spPr>
          <a:xfrm>
            <a:off x="676275" y="6296025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Assessed Slide (Q5.2)</a:t>
            </a:r>
            <a:endParaRPr/>
          </a:p>
        </p:txBody>
      </p:sp>
      <p:sp>
        <p:nvSpPr>
          <p:cNvPr id="429" name="Google Shape;429;p25"/>
          <p:cNvSpPr txBox="1"/>
          <p:nvPr/>
        </p:nvSpPr>
        <p:spPr>
          <a:xfrm>
            <a:off x="612457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430" name="Google Shape;430;p25"/>
          <p:cNvSpPr txBox="1"/>
          <p:nvPr/>
        </p:nvSpPr>
        <p:spPr>
          <a:xfrm>
            <a:off x="10801350" y="6296025"/>
            <a:ext cx="71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13 of 16</a:t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3319462" y="2553890"/>
            <a:ext cx="38100" cy="240744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 txBox="1"/>
          <p:nvPr/>
        </p:nvSpPr>
        <p:spPr>
          <a:xfrm>
            <a:off x="1247775" y="2782490"/>
            <a:ext cx="47405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Dynamic Safety Culture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914400" y="3182540"/>
            <a:ext cx="4848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 system learning mechanisms to support individual expression: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8834437" y="2553890"/>
            <a:ext cx="38100" cy="240744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6715125" y="2782490"/>
            <a:ext cx="479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Continuous Improvement</a:t>
            </a:r>
            <a:endParaRPr/>
          </a:p>
        </p:txBody>
      </p:sp>
      <p:sp>
        <p:nvSpPr>
          <p:cNvPr id="436" name="Google Shape;436;p25"/>
          <p:cNvSpPr txBox="1"/>
          <p:nvPr/>
        </p:nvSpPr>
        <p:spPr>
          <a:xfrm>
            <a:off x="6429375" y="3182540"/>
            <a:ext cx="4848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Move past point-in-time solutions into operational habits: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6429375" y="4561284"/>
            <a:ext cx="4848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EDMONDSON, 2018</a:t>
            </a:r>
            <a:endParaRPr/>
          </a:p>
        </p:txBody>
      </p:sp>
      <p:pic>
        <p:nvPicPr>
          <p:cNvPr descr="image.png" id="438" name="Google Shape;43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83011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 txBox="1"/>
          <p:nvPr/>
        </p:nvSpPr>
        <p:spPr>
          <a:xfrm>
            <a:off x="1181100" y="3496865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Reframe errors as system-level teaching assets.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1181100" y="3851671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Equip leaders with proactive active-listening toolkits.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1181100" y="4206478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Reward team members who flag procedural bottlenecks.</a:t>
            </a:r>
            <a:endParaRPr/>
          </a:p>
        </p:txBody>
      </p:sp>
      <p:pic>
        <p:nvPicPr>
          <p:cNvPr descr="image.png" id="442" name="Google Shape;44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283011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6696075" y="3496865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 ongoing professional development workshops.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6696075" y="3851671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Encourage regular peer-led operational sessions.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6696075" y="4206478"/>
            <a:ext cx="4581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Establish formal metrics to link team trust to delivery milestones.</a:t>
            </a:r>
            <a:endParaRPr/>
          </a:p>
        </p:txBody>
      </p:sp>
      <p:sp>
        <p:nvSpPr>
          <p:cNvPr id="446" name="Google Shape;446;p25"/>
          <p:cNvSpPr txBox="1"/>
          <p:nvPr/>
        </p:nvSpPr>
        <p:spPr>
          <a:xfrm>
            <a:off x="1119187" y="485775"/>
            <a:ext cx="10916364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Embedding Team Learning</a:t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8" name="Google Shape;448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351591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387072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225528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351591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387072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9375" y="4225528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609850"/>
            <a:ext cx="108394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6"/>
          <p:cNvSpPr txBox="1"/>
          <p:nvPr/>
        </p:nvSpPr>
        <p:spPr>
          <a:xfrm>
            <a:off x="676275" y="629602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Professional Practice</a:t>
            </a:r>
            <a:endParaRPr/>
          </a:p>
        </p:txBody>
      </p:sp>
      <p:sp>
        <p:nvSpPr>
          <p:cNvPr id="463" name="Google Shape;463;p26"/>
          <p:cNvSpPr txBox="1"/>
          <p:nvPr/>
        </p:nvSpPr>
        <p:spPr>
          <a:xfrm>
            <a:off x="6119812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464" name="Google Shape;464;p26"/>
          <p:cNvSpPr txBox="1"/>
          <p:nvPr/>
        </p:nvSpPr>
        <p:spPr>
          <a:xfrm>
            <a:off x="10801350" y="6296025"/>
            <a:ext cx="71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14 of 16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076950" y="2619375"/>
            <a:ext cx="38100" cy="22764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1181100" y="2847975"/>
            <a:ext cx="10601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Strategic Takeaways</a:t>
            </a:r>
            <a:endParaRPr/>
          </a:p>
        </p:txBody>
      </p:sp>
      <p:pic>
        <p:nvPicPr>
          <p:cNvPr descr="image.png" id="467" name="Google Shape;46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8956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6"/>
          <p:cNvSpPr txBox="1"/>
          <p:nvPr/>
        </p:nvSpPr>
        <p:spPr>
          <a:xfrm>
            <a:off x="1181100" y="3248025"/>
            <a:ext cx="100965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 Impact: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Unchecked personal friction leads to decreased psychological safety, team underperformance, and critical drops in B2B trust.</a:t>
            </a:r>
            <a:endParaRPr/>
          </a:p>
        </p:txBody>
      </p:sp>
      <p:sp>
        <p:nvSpPr>
          <p:cNvPr id="469" name="Google Shape;469;p26"/>
          <p:cNvSpPr txBox="1"/>
          <p:nvPr/>
        </p:nvSpPr>
        <p:spPr>
          <a:xfrm>
            <a:off x="1181100" y="3602831"/>
            <a:ext cx="100965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Intervention: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Applying clear academic frameworks (SBI, Tuckman, Mitchell Venn Model) provides structured tools to solve team gridlock.</a:t>
            </a: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1181100" y="3957637"/>
            <a:ext cx="100965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Operational Success: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Consistent systemic updates (Deming PDCA loop) protect ongoing campaign output and rebuild partner trust.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1181100" y="4312443"/>
            <a:ext cx="100965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Professional leadership transforms conflict from a project liability into a driver for mature team collaboration.</a:t>
            </a:r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Strategic Conclusion</a:t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4" name="Google Shape;47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26707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621881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976687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331493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95312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7"/>
          <p:cNvSpPr txBox="1"/>
          <p:nvPr/>
        </p:nvSpPr>
        <p:spPr>
          <a:xfrm>
            <a:off x="676275" y="629602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Professional Practice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6124575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10810875" y="6296025"/>
            <a:ext cx="704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15 of 16</a:t>
            </a:r>
            <a:endParaRPr/>
          </a:p>
        </p:txBody>
      </p:sp>
      <p:sp>
        <p:nvSpPr>
          <p:cNvPr id="488" name="Google Shape;488;p27"/>
          <p:cNvSpPr txBox="1"/>
          <p:nvPr/>
        </p:nvSpPr>
        <p:spPr>
          <a:xfrm>
            <a:off x="676275" y="13716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Deming, W.E. (1986)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 of the Crisis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Cambridge, MA: MIT Press.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676275" y="1676400"/>
            <a:ext cx="10839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Dirks, K.T., Lewicki, R.J. and Zaheer, A. (2009) 'Repairing relationships within and between organizations',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Academy of Management Review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34(1), pp. 68-84.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676275" y="22098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Edmondson, A. (1999) 'Psychological safety and learning behavior in work teams',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Administrative Science Quarterly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44(2), pp. 350-383.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676275" y="2514600"/>
            <a:ext cx="10839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Edmondson, A.C. (2018)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Fearless Organization: Creating Psychological Safety in the Workplace for Learning, Innovation, and Growth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Hoboken, NJ: John Wiley &amp; Sons.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676275" y="30480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Freeman, R.E. (1984)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Strategic Management: A Stakeholder Approach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Boston, MA: Pitman.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676275" y="33528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(2018)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31000:2018 Risk Management – Guidelines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Geneva: International Organization for Standardization.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676275" y="3657600"/>
            <a:ext cx="10839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Mitchell, R.K., Agle, B.R. and Wood, D.J. (1997) 'Toward a theory of stakeholder identification and salience: Defining the principle of who and what really counts',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Academy of Management Review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22(4), pp. 853-886.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676275" y="41910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Thomas, K.W. and Kilmann, R.H. (1974)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Thomas-Kilmann Conflict Mode Instrument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Tuxedo, NY: Xicom.</a:t>
            </a:r>
            <a:endParaRPr/>
          </a:p>
        </p:txBody>
      </p:sp>
      <p:sp>
        <p:nvSpPr>
          <p:cNvPr id="496" name="Google Shape;496;p27"/>
          <p:cNvSpPr txBox="1"/>
          <p:nvPr/>
        </p:nvSpPr>
        <p:spPr>
          <a:xfrm>
            <a:off x="676275" y="4495800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Tuckman, B.W. (1965) 'Developmental sequence in small groups',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Psychological Bulletin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63(6), pp. 384-399.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1023937" y="485775"/>
            <a:ext cx="11016376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Academic References</a:t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19412"/>
            <a:ext cx="5229225" cy="1416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6143625"/>
            <a:ext cx="108394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595312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8"/>
          <p:cNvSpPr txBox="1"/>
          <p:nvPr/>
        </p:nvSpPr>
        <p:spPr>
          <a:xfrm>
            <a:off x="676275" y="6296025"/>
            <a:ext cx="1838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TECH1100 - Professional Practice</a:t>
            </a:r>
            <a:endParaRPr/>
          </a:p>
        </p:txBody>
      </p:sp>
      <p:sp>
        <p:nvSpPr>
          <p:cNvPr id="508" name="Google Shape;508;p28"/>
          <p:cNvSpPr txBox="1"/>
          <p:nvPr/>
        </p:nvSpPr>
        <p:spPr>
          <a:xfrm>
            <a:off x="6119812" y="6296025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E-Commerce Study</a:t>
            </a:r>
            <a:endParaRPr/>
          </a:p>
        </p:txBody>
      </p:sp>
      <p:sp>
        <p:nvSpPr>
          <p:cNvPr id="509" name="Google Shape;509;p28"/>
          <p:cNvSpPr txBox="1"/>
          <p:nvPr/>
        </p:nvSpPr>
        <p:spPr>
          <a:xfrm>
            <a:off x="10801350" y="6296025"/>
            <a:ext cx="71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16 of 16</a:t>
            </a:r>
            <a:endParaRPr/>
          </a:p>
        </p:txBody>
      </p:sp>
      <p:sp>
        <p:nvSpPr>
          <p:cNvPr id="510" name="Google Shape;510;p28"/>
          <p:cNvSpPr txBox="1"/>
          <p:nvPr/>
        </p:nvSpPr>
        <p:spPr>
          <a:xfrm>
            <a:off x="676275" y="2919412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AI Tool Integration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942975" y="3309937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Application Used: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ChatGPT / Gemini Engine.</a:t>
            </a:r>
            <a:endParaRPr/>
          </a:p>
        </p:txBody>
      </p:sp>
      <p:sp>
        <p:nvSpPr>
          <p:cNvPr id="512" name="Google Shape;512;p28"/>
          <p:cNvSpPr txBox="1"/>
          <p:nvPr/>
        </p:nvSpPr>
        <p:spPr>
          <a:xfrm>
            <a:off x="942975" y="3664743"/>
            <a:ext cx="4962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Compliance Category: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Level 2 Compliance.</a:t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942975" y="4019550"/>
            <a:ext cx="4962525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Purpose of Use:</a:t>
            </a:r>
            <a:r>
              <a:rPr b="0" i="0" lang="en-US" sz="116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Structural design guidance and drafting of comparative layouts.</a:t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8882062" y="2928936"/>
            <a:ext cx="38100" cy="1397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6858000" y="3157537"/>
            <a:ext cx="46405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Assurance Declaration</a:t>
            </a:r>
            <a:endParaRPr/>
          </a:p>
        </p:txBody>
      </p:sp>
      <p:sp>
        <p:nvSpPr>
          <p:cNvPr id="516" name="Google Shape;516;p28"/>
          <p:cNvSpPr txBox="1"/>
          <p:nvPr/>
        </p:nvSpPr>
        <p:spPr>
          <a:xfrm>
            <a:off x="6524625" y="3557587"/>
            <a:ext cx="4752975" cy="53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 hereby confirm that all AI-generated suggestions, structures, and copy elements were rigorously reviewed, critiqued, and revised to maintain high standards of academic integrity and contextual accuracy."</a:t>
            </a:r>
            <a:endParaRPr/>
          </a:p>
        </p:txBody>
      </p:sp>
      <p:pic>
        <p:nvPicPr>
          <p:cNvPr descr="image.png" id="517" name="Google Shape;51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2051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8"/>
          <p:cNvSpPr txBox="1"/>
          <p:nvPr/>
        </p:nvSpPr>
        <p:spPr>
          <a:xfrm>
            <a:off x="1052512" y="485775"/>
            <a:ext cx="109863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Appendix – AI Declaration</a:t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676275" y="1114425"/>
            <a:ext cx="10839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0" name="Google Shape;52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328987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3683793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4038600"/>
            <a:ext cx="1524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